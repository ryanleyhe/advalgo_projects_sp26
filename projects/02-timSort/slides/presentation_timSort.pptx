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Barlow ExtraLight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Hepta Slab Medium"/>
      <p:regular r:id="rId29"/>
      <p:bold r:id="rId30"/>
    </p:embeddedFont>
    <p:embeddedFont>
      <p:font typeface="Hepta Slab Light"/>
      <p:regular r:id="rId31"/>
      <p:bold r:id="rId32"/>
    </p:embeddedFont>
    <p:embeddedFont>
      <p:font typeface="Hepta Slab"/>
      <p:regular r:id="rId33"/>
      <p:bold r:id="rId34"/>
    </p:embeddedFont>
    <p:embeddedFont>
      <p:font typeface="Maven Pro"/>
      <p:regular r:id="rId35"/>
      <p:bold r:id="rId36"/>
    </p:embeddedFont>
    <p:embeddedFont>
      <p:font typeface="Barlow Medium"/>
      <p:regular r:id="rId37"/>
      <p:bold r:id="rId38"/>
      <p:italic r:id="rId39"/>
      <p:boldItalic r:id="rId40"/>
    </p:embeddedFont>
    <p:embeddedFont>
      <p:font typeface="Barlow Light"/>
      <p:regular r:id="rId41"/>
      <p:bold r:id="rId42"/>
      <p:italic r:id="rId43"/>
      <p:boldItalic r:id="rId44"/>
    </p:embeddedFont>
    <p:embeddedFont>
      <p:font typeface="Barlow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D6C324-DB72-4DD9-8D4C-129021D52F23}">
  <a:tblStyle styleId="{A0D6C324-DB72-4DD9-8D4C-129021D52F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Medium-boldItalic.fntdata"/><Relationship Id="rId20" Type="http://schemas.openxmlformats.org/officeDocument/2006/relationships/slide" Target="slides/slide13.xml"/><Relationship Id="rId42" Type="http://schemas.openxmlformats.org/officeDocument/2006/relationships/font" Target="fonts/BarlowLight-bold.fntdata"/><Relationship Id="rId41" Type="http://schemas.openxmlformats.org/officeDocument/2006/relationships/font" Target="fonts/BarlowLight-regular.fntdata"/><Relationship Id="rId22" Type="http://schemas.openxmlformats.org/officeDocument/2006/relationships/font" Target="fonts/BarlowExtraLight-bold.fntdata"/><Relationship Id="rId44" Type="http://schemas.openxmlformats.org/officeDocument/2006/relationships/font" Target="fonts/BarlowLight-boldItalic.fntdata"/><Relationship Id="rId21" Type="http://schemas.openxmlformats.org/officeDocument/2006/relationships/font" Target="fonts/BarlowExtraLight-regular.fntdata"/><Relationship Id="rId43" Type="http://schemas.openxmlformats.org/officeDocument/2006/relationships/font" Target="fonts/BarlowLight-italic.fntdata"/><Relationship Id="rId24" Type="http://schemas.openxmlformats.org/officeDocument/2006/relationships/font" Target="fonts/BarlowExtraLight-boldItalic.fntdata"/><Relationship Id="rId46" Type="http://schemas.openxmlformats.org/officeDocument/2006/relationships/font" Target="fonts/Barlow-bold.fntdata"/><Relationship Id="rId23" Type="http://schemas.openxmlformats.org/officeDocument/2006/relationships/font" Target="fonts/BarlowExtraLight-italic.fntdata"/><Relationship Id="rId45" Type="http://schemas.openxmlformats.org/officeDocument/2006/relationships/font" Target="fonts/Barlow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bold.fntdata"/><Relationship Id="rId48" Type="http://schemas.openxmlformats.org/officeDocument/2006/relationships/font" Target="fonts/Barlow-boldItalic.fntdata"/><Relationship Id="rId25" Type="http://schemas.openxmlformats.org/officeDocument/2006/relationships/font" Target="fonts/Nunito-regular.fntdata"/><Relationship Id="rId47" Type="http://schemas.openxmlformats.org/officeDocument/2006/relationships/font" Target="fonts/Barlow-italic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eptaSlabMedium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ptaSlabLight-regular.fntdata"/><Relationship Id="rId30" Type="http://schemas.openxmlformats.org/officeDocument/2006/relationships/font" Target="fonts/HeptaSlabMedium-bold.fntdata"/><Relationship Id="rId11" Type="http://schemas.openxmlformats.org/officeDocument/2006/relationships/slide" Target="slides/slide4.xml"/><Relationship Id="rId33" Type="http://schemas.openxmlformats.org/officeDocument/2006/relationships/font" Target="fonts/HeptaSlab-regular.fntdata"/><Relationship Id="rId10" Type="http://schemas.openxmlformats.org/officeDocument/2006/relationships/slide" Target="slides/slide3.xml"/><Relationship Id="rId32" Type="http://schemas.openxmlformats.org/officeDocument/2006/relationships/font" Target="fonts/HeptaSlabLight-bold.fntdata"/><Relationship Id="rId13" Type="http://schemas.openxmlformats.org/officeDocument/2006/relationships/slide" Target="slides/slide6.xml"/><Relationship Id="rId35" Type="http://schemas.openxmlformats.org/officeDocument/2006/relationships/font" Target="fonts/MavenPro-regular.fntdata"/><Relationship Id="rId12" Type="http://schemas.openxmlformats.org/officeDocument/2006/relationships/slide" Target="slides/slide5.xml"/><Relationship Id="rId34" Type="http://schemas.openxmlformats.org/officeDocument/2006/relationships/font" Target="fonts/HeptaSlab-bold.fntdata"/><Relationship Id="rId15" Type="http://schemas.openxmlformats.org/officeDocument/2006/relationships/slide" Target="slides/slide8.xml"/><Relationship Id="rId37" Type="http://schemas.openxmlformats.org/officeDocument/2006/relationships/font" Target="fonts/BarlowMedium-regular.fntdata"/><Relationship Id="rId14" Type="http://schemas.openxmlformats.org/officeDocument/2006/relationships/slide" Target="slides/slide7.xml"/><Relationship Id="rId36" Type="http://schemas.openxmlformats.org/officeDocument/2006/relationships/font" Target="fonts/MavenPro-bold.fntdata"/><Relationship Id="rId17" Type="http://schemas.openxmlformats.org/officeDocument/2006/relationships/slide" Target="slides/slide10.xml"/><Relationship Id="rId39" Type="http://schemas.openxmlformats.org/officeDocument/2006/relationships/font" Target="fonts/BarlowMedium-italic.fntdata"/><Relationship Id="rId16" Type="http://schemas.openxmlformats.org/officeDocument/2006/relationships/slide" Target="slides/slide9.xml"/><Relationship Id="rId38" Type="http://schemas.openxmlformats.org/officeDocument/2006/relationships/font" Target="fonts/Barlow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6394b5d4c_0_2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d6394b5d4c_0_2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6394b5d4c_0_2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6394b5d4c_0_2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6394b5d4c_0_2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d6394b5d4c_0_2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831a07ff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d831a07f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d6394b5d4c_0_2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d6394b5d4c_0_2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6394b5d4c_0_2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d6394b5d4c_0_2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d6cb8885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d6cb8885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6cb88852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d6cb88852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6cb8885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6cb8885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d6394b5d4c_0_2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d6394b5d4c_0_2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d6cb88852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d6cb88852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d6cb88852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d6cb88852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6cb88852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d6cb88852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87" name="Google Shape;2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1" name="Google Shape;29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8" name="Google Shape;29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2" name="Google Shape;3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6" name="Google Shape;306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7" name="Google Shape;307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311" name="Google Shape;3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15" name="Google Shape;31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30" name="Google Shape;330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5" name="Google Shape;335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36" name="Google Shape;336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37" name="Google Shape;337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42" name="Google Shape;342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43" name="Google Shape;343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44" name="Google Shape;344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51" name="Google Shape;351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52" name="Google Shape;352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53" name="Google Shape;353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354" name="Google Shape;354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5" name="Google Shape;355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8" name="Google Shape;358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5" name="Google Shape;365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7" name="Google Shape;377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9" name="Google Shape;3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2" name="Google Shape;382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3" name="Google Shape;383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01" name="Google Shape;401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02" name="Google Shape;40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06" name="Google Shape;406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07" name="Google Shape;40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11" name="Google Shape;411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2" name="Google Shape;412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13" name="Google Shape;413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14" name="Google Shape;414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5" name="Google Shape;415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432" name="Google Shape;432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3" name="Google Shape;433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34" name="Google Shape;434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35" name="Google Shape;435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1" name="Google Shape;441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448" name="Google Shape;448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49" name="Google Shape;449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0" name="Google Shape;450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1" name="Google Shape;451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2" name="Google Shape;452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3" name="Google Shape;453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4" name="Google Shape;454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5" name="Google Shape;455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6" name="Google Shape;456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57" name="Google Shape;457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64" name="Google Shape;464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465" name="Google Shape;465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66" name="Google Shape;466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69" name="Google Shape;469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0" name="Google Shape;470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1" name="Google Shape;471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73" name="Google Shape;473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74" name="Google Shape;474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77" name="Google Shape;477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478" name="Google Shape;47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82" name="Google Shape;482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486" name="Google Shape;486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7" name="Google Shape;487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492" name="Google Shape;492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493" name="Google Shape;493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494" name="Google Shape;494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495" name="Google Shape;495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496" name="Google Shape;496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497" name="Google Shape;497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00" name="Google Shape;500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01" name="Google Shape;50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05" name="Google Shape;505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6" name="Google Shape;506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10" name="Google Shape;510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11" name="Google Shape;511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12" name="Google Shape;512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15" name="Google Shape;515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16" name="Google Shape;516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17" name="Google Shape;517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20" name="Google Shape;520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21" name="Google Shape;521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22" name="Google Shape;522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23" name="Google Shape;523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24" name="Google Shape;524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525" name="Google Shape;525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7" name="Google Shape;527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8" name="Google Shape;528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9" name="Google Shape;529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0" name="Google Shape;530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1" name="Google Shape;531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32" name="Google Shape;532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33" name="Google Shape;533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34" name="Google Shape;534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35" name="Google Shape;535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36" name="Google Shape;536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37" name="Google Shape;537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40" name="Google Shape;540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541" name="Google Shape;541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44" name="Google Shape;544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45" name="Google Shape;54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48" name="Google Shape;548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49" name="Google Shape;549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50" name="Google Shape;550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51" name="Google Shape;551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52" name="Google Shape;552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53" name="Google Shape;553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54" name="Google Shape;554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55" name="Google Shape;555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556" name="Google Shape;556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557" name="Google Shape;557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558" name="Google Shape;558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9" name="Google Shape;559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60" name="Google Shape;560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61" name="Google Shape;561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64" name="Google Shape;564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565" name="Google Shape;565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7" name="Google Shape;567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8" name="Google Shape;568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9" name="Google Shape;569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0" name="Google Shape;570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1" name="Google Shape;571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72" name="Google Shape;572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73" name="Google Shape;573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74" name="Google Shape;574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75" name="Google Shape;575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76" name="Google Shape;576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77" name="Google Shape;577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78" name="Google Shape;578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79" name="Google Shape;579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80" name="Google Shape;580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581" name="Google Shape;581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84" name="Google Shape;584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5" name="Google Shape;585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88" name="Google Shape;588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89" name="Google Shape;589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0"/>
              <a:t>TIMSORT</a:t>
            </a:r>
            <a:endParaRPr sz="10000"/>
          </a:p>
        </p:txBody>
      </p:sp>
      <p:sp>
        <p:nvSpPr>
          <p:cNvPr id="595" name="Google Shape;595;p59"/>
          <p:cNvSpPr txBox="1"/>
          <p:nvPr>
            <p:ph idx="2" type="subTitle"/>
          </p:nvPr>
        </p:nvSpPr>
        <p:spPr>
          <a:xfrm>
            <a:off x="2857500" y="3199175"/>
            <a:ext cx="3765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Michael Chen, Mason Baldwin, Alex Haas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0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01" name="Google Shape;601;p60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1"/>
          <p:cNvSpPr txBox="1"/>
          <p:nvPr>
            <p:ph idx="1" type="body"/>
          </p:nvPr>
        </p:nvSpPr>
        <p:spPr>
          <a:xfrm>
            <a:off x="2094600" y="60600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Popular Sorting </a:t>
            </a:r>
            <a:r>
              <a:rPr lang="en" sz="3200"/>
              <a:t>Algorithms</a:t>
            </a:r>
            <a:endParaRPr sz="3200"/>
          </a:p>
        </p:txBody>
      </p:sp>
      <p:sp>
        <p:nvSpPr>
          <p:cNvPr id="607" name="Google Shape;607;p6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8" name="Google Shape;608;p61" title="Insertion-sorting.png"/>
          <p:cNvPicPr preferRelativeResize="0"/>
          <p:nvPr/>
        </p:nvPicPr>
        <p:blipFill rotWithShape="1">
          <a:blip r:embed="rId3">
            <a:alphaModFix/>
          </a:blip>
          <a:srcRect b="13307" l="10431" r="9640" t="0"/>
          <a:stretch/>
        </p:blipFill>
        <p:spPr>
          <a:xfrm>
            <a:off x="3697025" y="1046450"/>
            <a:ext cx="5262526" cy="31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61" title="Merge_sort_algorithm_diagram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75" y="1046462"/>
            <a:ext cx="3446675" cy="31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1"/>
          <p:cNvSpPr txBox="1"/>
          <p:nvPr>
            <p:ph idx="6" type="body"/>
          </p:nvPr>
        </p:nvSpPr>
        <p:spPr>
          <a:xfrm>
            <a:off x="2556900" y="4430915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000"/>
              <a:t>Strengths? Weaknesses?</a:t>
            </a:r>
            <a:endParaRPr sz="2000"/>
          </a:p>
        </p:txBody>
      </p:sp>
      <p:sp>
        <p:nvSpPr>
          <p:cNvPr id="611" name="Google Shape;611;p61"/>
          <p:cNvSpPr txBox="1"/>
          <p:nvPr>
            <p:ph idx="6" type="body"/>
          </p:nvPr>
        </p:nvSpPr>
        <p:spPr>
          <a:xfrm>
            <a:off x="1016800" y="668702"/>
            <a:ext cx="16032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Merge Sort</a:t>
            </a:r>
            <a:endParaRPr sz="1500"/>
          </a:p>
        </p:txBody>
      </p:sp>
      <p:sp>
        <p:nvSpPr>
          <p:cNvPr id="612" name="Google Shape;612;p61"/>
          <p:cNvSpPr txBox="1"/>
          <p:nvPr>
            <p:ph idx="6" type="body"/>
          </p:nvPr>
        </p:nvSpPr>
        <p:spPr>
          <a:xfrm>
            <a:off x="5526688" y="668702"/>
            <a:ext cx="16032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Insertion Sort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2"/>
          <p:cNvSpPr txBox="1"/>
          <p:nvPr>
            <p:ph idx="1" type="body"/>
          </p:nvPr>
        </p:nvSpPr>
        <p:spPr>
          <a:xfrm>
            <a:off x="1069950" y="79600"/>
            <a:ext cx="70041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Popular Sorting Algorithms Runtime</a:t>
            </a:r>
            <a:endParaRPr sz="3200"/>
          </a:p>
        </p:txBody>
      </p:sp>
      <p:sp>
        <p:nvSpPr>
          <p:cNvPr id="618" name="Google Shape;618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62"/>
          <p:cNvSpPr txBox="1"/>
          <p:nvPr>
            <p:ph idx="6" type="body"/>
          </p:nvPr>
        </p:nvSpPr>
        <p:spPr>
          <a:xfrm>
            <a:off x="952500" y="4288300"/>
            <a:ext cx="7239000" cy="7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000"/>
              <a:t>What if we can combine Insertion Sort’s </a:t>
            </a:r>
            <a:r>
              <a:rPr lang="en" sz="2000">
                <a:latin typeface="Barlow Light"/>
                <a:ea typeface="Barlow Light"/>
                <a:cs typeface="Barlow Light"/>
                <a:sym typeface="Barlow Light"/>
              </a:rPr>
              <a:t>𝛀</a:t>
            </a:r>
            <a:r>
              <a:rPr lang="en" sz="2000"/>
              <a:t>(n) best case runtime with Merge Sort’s Θ(nlogn) </a:t>
            </a:r>
            <a:r>
              <a:rPr lang="en" sz="2000"/>
              <a:t>average</a:t>
            </a:r>
            <a:r>
              <a:rPr lang="en" sz="2000"/>
              <a:t> and worst case runtime?</a:t>
            </a:r>
            <a:endParaRPr sz="2000"/>
          </a:p>
        </p:txBody>
      </p:sp>
      <p:graphicFrame>
        <p:nvGraphicFramePr>
          <p:cNvPr id="620" name="Google Shape;620;p62"/>
          <p:cNvGraphicFramePr/>
          <p:nvPr/>
        </p:nvGraphicFramePr>
        <p:xfrm>
          <a:off x="952500" y="95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{A0D6C324-DB72-4DD9-8D4C-129021D52F23}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Algorithm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Best Case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Average Case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Worst Case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Notes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Insertion Sort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𝛀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(n)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Θ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(n^2)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O(n^2)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Best for small datasets, most elements are already in order.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Merge Sort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Barlow Light"/>
                          <a:ea typeface="Barlow Light"/>
                          <a:cs typeface="Barlow Light"/>
                          <a:sym typeface="Barlow Light"/>
                        </a:rPr>
                        <a:t>𝛀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(nlogn)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Θ</a:t>
                      </a:r>
                      <a:r>
                        <a:rPr lang="en" sz="16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(nlogn)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O(nlogn)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Best for large datasets, stable runtime.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3"/>
          <p:cNvSpPr txBox="1"/>
          <p:nvPr>
            <p:ph idx="1" type="body"/>
          </p:nvPr>
        </p:nvSpPr>
        <p:spPr>
          <a:xfrm>
            <a:off x="2094600" y="152025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Timsort</a:t>
            </a:r>
            <a:endParaRPr/>
          </a:p>
        </p:txBody>
      </p:sp>
      <p:sp>
        <p:nvSpPr>
          <p:cNvPr id="626" name="Google Shape;626;p6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63"/>
          <p:cNvSpPr txBox="1"/>
          <p:nvPr/>
        </p:nvSpPr>
        <p:spPr>
          <a:xfrm>
            <a:off x="316825" y="938975"/>
            <a:ext cx="8659500" cy="3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b="1" lang="en" sz="1500">
                <a:latin typeface="Barlow"/>
                <a:ea typeface="Barlow"/>
                <a:cs typeface="Barlow"/>
                <a:sym typeface="Barlow"/>
              </a:rPr>
              <a:t>Definition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: A high-performance, adaptive algorithm that combines the low overhead of Insertion Sort with the scaling power of Merge Sort.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b="1" lang="en" sz="1500">
                <a:latin typeface="Barlow"/>
                <a:ea typeface="Barlow"/>
                <a:cs typeface="Barlow"/>
                <a:sym typeface="Barlow"/>
              </a:rPr>
              <a:t>Time Complexity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: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Best Case: 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𝛀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(n)Big-Ω (Big-Omega) notation (article)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t/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Average Case: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 Θ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(nlogn)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Worst Case: O(nlogn).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b="1" lang="en" sz="1500">
                <a:latin typeface="Barlow"/>
                <a:ea typeface="Barlow"/>
                <a:cs typeface="Barlow"/>
                <a:sym typeface="Barlow"/>
              </a:rPr>
              <a:t>Space Complexity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: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O(n), additional space is required for merging runs.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●"/>
            </a:pPr>
            <a:r>
              <a:rPr b="1" lang="en" sz="1500">
                <a:latin typeface="Barlow"/>
                <a:ea typeface="Barlow"/>
                <a:cs typeface="Barlow"/>
                <a:sym typeface="Barlow"/>
              </a:rPr>
              <a:t>Applications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: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Python: The default sort for list.sort() and sorted().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Barlow Light"/>
              <a:buChar char="○"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Java: Used in java.util.Arrays.sort() for objects and Collections.sort().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628" name="Google Shape;62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475" y="3594200"/>
            <a:ext cx="4121050" cy="14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4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Approach</a:t>
            </a:r>
            <a:endParaRPr/>
          </a:p>
        </p:txBody>
      </p:sp>
      <p:sp>
        <p:nvSpPr>
          <p:cNvPr id="634" name="Google Shape;634;p64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5"/>
          <p:cNvSpPr txBox="1"/>
          <p:nvPr>
            <p:ph idx="1" type="body"/>
          </p:nvPr>
        </p:nvSpPr>
        <p:spPr>
          <a:xfrm>
            <a:off x="2094600" y="152025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Runs</a:t>
            </a:r>
            <a:endParaRPr/>
          </a:p>
        </p:txBody>
      </p:sp>
      <p:sp>
        <p:nvSpPr>
          <p:cNvPr id="640" name="Google Shape;640;p6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1" name="Google Shape;641;p65"/>
          <p:cNvSpPr txBox="1"/>
          <p:nvPr>
            <p:ph idx="6" type="body"/>
          </p:nvPr>
        </p:nvSpPr>
        <p:spPr>
          <a:xfrm>
            <a:off x="734925" y="734600"/>
            <a:ext cx="77556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500"/>
              <a:t>Key Idea: exploit contiguous sorted subsequences already present in a dataset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Example: Multiple servers log data in chronological order. When all server logs are </a:t>
            </a:r>
            <a:r>
              <a:rPr lang="en" sz="1500"/>
              <a:t>uploaded to the main system, this order is still maintained: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	</a:t>
            </a:r>
            <a:r>
              <a:rPr lang="en" sz="1900">
                <a:highlight>
                  <a:srgbClr val="FFF2CC"/>
                </a:highlight>
              </a:rPr>
              <a:t>Server A</a:t>
            </a:r>
            <a:r>
              <a:rPr lang="en" sz="1900"/>
              <a:t>: [1, 3, 5]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900"/>
              <a:t>	</a:t>
            </a:r>
            <a:r>
              <a:rPr lang="en" sz="1900">
                <a:highlight>
                  <a:srgbClr val="D9EAD3"/>
                </a:highlight>
              </a:rPr>
              <a:t>Server B</a:t>
            </a:r>
            <a:r>
              <a:rPr lang="en" sz="1900"/>
              <a:t>: [2, 4, 6]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900"/>
              <a:t>	Combined: [</a:t>
            </a:r>
            <a:r>
              <a:rPr lang="en" sz="1900">
                <a:highlight>
                  <a:srgbClr val="FFF2CC"/>
                </a:highlight>
              </a:rPr>
              <a:t>1, 3, 5</a:t>
            </a:r>
            <a:r>
              <a:rPr lang="en" sz="1900"/>
              <a:t>,</a:t>
            </a:r>
            <a:r>
              <a:rPr lang="en" sz="1900">
                <a:highlight>
                  <a:srgbClr val="D9EAD3"/>
                </a:highlight>
              </a:rPr>
              <a:t> 2, 4, 6]</a:t>
            </a:r>
            <a:endParaRPr sz="1900">
              <a:highlight>
                <a:srgbClr val="D9EAD3"/>
              </a:highlight>
            </a:endParaRPr>
          </a:p>
        </p:txBody>
      </p:sp>
      <p:sp>
        <p:nvSpPr>
          <p:cNvPr id="642" name="Google Shape;642;p65"/>
          <p:cNvSpPr txBox="1"/>
          <p:nvPr/>
        </p:nvSpPr>
        <p:spPr>
          <a:xfrm>
            <a:off x="988775" y="3192500"/>
            <a:ext cx="3464700" cy="13698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Importance of Minimum Run Size</a:t>
            </a:r>
            <a:endParaRPr b="1" sz="17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AutoNum type="arabicPeriod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Prevents too many small runs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AutoNum type="arabicPeriod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Makes merging more efficient 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AutoNum type="arabicPeriod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Leverages insertion sort where its strongest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643" name="Google Shape;64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075" y="1620900"/>
            <a:ext cx="2877350" cy="344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"/>
          <p:cNvSpPr txBox="1"/>
          <p:nvPr>
            <p:ph idx="1" type="body"/>
          </p:nvPr>
        </p:nvSpPr>
        <p:spPr>
          <a:xfrm>
            <a:off x="2094600" y="152025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</a:t>
            </a:r>
            <a:endParaRPr/>
          </a:p>
        </p:txBody>
      </p:sp>
      <p:sp>
        <p:nvSpPr>
          <p:cNvPr id="649" name="Google Shape;649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66"/>
          <p:cNvSpPr txBox="1"/>
          <p:nvPr>
            <p:ph idx="6" type="body"/>
          </p:nvPr>
        </p:nvSpPr>
        <p:spPr>
          <a:xfrm>
            <a:off x="1616250" y="809650"/>
            <a:ext cx="59115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Each run = smaller sorted list</a:t>
            </a:r>
            <a:endParaRPr sz="1500"/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Iterative instead of recursive</a:t>
            </a:r>
            <a:endParaRPr sz="1500"/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Merge order matters! (O(n</a:t>
            </a:r>
            <a:r>
              <a:rPr baseline="30000" lang="en" sz="1500"/>
              <a:t>2</a:t>
            </a:r>
            <a:r>
              <a:rPr lang="en" sz="1500"/>
              <a:t>) possible)</a:t>
            </a:r>
            <a:endParaRPr sz="1500"/>
          </a:p>
        </p:txBody>
      </p:sp>
      <p:pic>
        <p:nvPicPr>
          <p:cNvPr id="651" name="Google Shape;651;p66"/>
          <p:cNvPicPr preferRelativeResize="0"/>
          <p:nvPr/>
        </p:nvPicPr>
        <p:blipFill rotWithShape="1">
          <a:blip r:embed="rId3">
            <a:alphaModFix/>
          </a:blip>
          <a:srcRect b="21017" l="0" r="0" t="0"/>
          <a:stretch/>
        </p:blipFill>
        <p:spPr>
          <a:xfrm>
            <a:off x="5607000" y="1353287"/>
            <a:ext cx="3406870" cy="2194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2" name="Google Shape;652;p66" title="Merging Problems.png"/>
          <p:cNvPicPr preferRelativeResize="0"/>
          <p:nvPr/>
        </p:nvPicPr>
        <p:blipFill rotWithShape="1">
          <a:blip r:embed="rId4">
            <a:alphaModFix/>
          </a:blip>
          <a:srcRect b="47072" l="0" r="8509" t="36773"/>
          <a:stretch/>
        </p:blipFill>
        <p:spPr>
          <a:xfrm>
            <a:off x="-90574" y="4321452"/>
            <a:ext cx="7790100" cy="1031701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66"/>
          <p:cNvSpPr txBox="1"/>
          <p:nvPr/>
        </p:nvSpPr>
        <p:spPr>
          <a:xfrm>
            <a:off x="7653061" y="4006315"/>
            <a:ext cx="17607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…</a:t>
            </a:r>
            <a:endParaRPr sz="6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654" name="Google Shape;654;p66" title="Screen Shot 2026-04-20 at 4.33.1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125" y="1460198"/>
            <a:ext cx="5272574" cy="1981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7"/>
          <p:cNvSpPr txBox="1"/>
          <p:nvPr>
            <p:ph idx="1" type="body"/>
          </p:nvPr>
        </p:nvSpPr>
        <p:spPr>
          <a:xfrm>
            <a:off x="2094600" y="152025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Min_run</a:t>
            </a:r>
            <a:endParaRPr/>
          </a:p>
        </p:txBody>
      </p:sp>
      <p:sp>
        <p:nvSpPr>
          <p:cNvPr id="660" name="Google Shape;660;p6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67"/>
          <p:cNvSpPr txBox="1"/>
          <p:nvPr/>
        </p:nvSpPr>
        <p:spPr>
          <a:xfrm>
            <a:off x="417325" y="918100"/>
            <a:ext cx="9807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62" name="Google Shape;662;p67"/>
          <p:cNvSpPr txBox="1"/>
          <p:nvPr>
            <p:ph idx="6" type="body"/>
          </p:nvPr>
        </p:nvSpPr>
        <p:spPr>
          <a:xfrm>
            <a:off x="417325" y="1002000"/>
            <a:ext cx="4154700" cy="31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Definition: </a:t>
            </a:r>
            <a:r>
              <a:rPr lang="en" sz="1500"/>
              <a:t>The minimum length required for a run before it can be added to the merge stack.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If Run Size &lt; min_run: </a:t>
            </a:r>
            <a:endParaRPr b="1"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Use </a:t>
            </a:r>
            <a:r>
              <a:rPr b="1" lang="en" sz="1500"/>
              <a:t>Insertion Sort</a:t>
            </a:r>
            <a:r>
              <a:rPr lang="en" sz="1500"/>
              <a:t> to "boost" the run. 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Pulls the next elements into the current sequence until the threshold is met.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If Run Size ≥ min_run: </a:t>
            </a:r>
            <a:endParaRPr b="1"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Keep the run as-is and move to the next chunk. </a:t>
            </a:r>
            <a:endParaRPr sz="15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Prepares these standardized chunks for the </a:t>
            </a:r>
            <a:r>
              <a:rPr b="1" lang="en" sz="1500"/>
              <a:t>Merge Sort</a:t>
            </a:r>
            <a:r>
              <a:rPr lang="en" sz="1500"/>
              <a:t> phase.</a:t>
            </a:r>
            <a:endParaRPr sz="1500"/>
          </a:p>
        </p:txBody>
      </p:sp>
      <p:pic>
        <p:nvPicPr>
          <p:cNvPr id="663" name="Google Shape;663;p67" title="Screenshot 2026-04-20 at 11.40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25" y="1357925"/>
            <a:ext cx="4267175" cy="242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8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Optimizations</a:t>
            </a:r>
            <a:endParaRPr/>
          </a:p>
        </p:txBody>
      </p:sp>
      <p:sp>
        <p:nvSpPr>
          <p:cNvPr id="669" name="Google Shape;669;p68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9"/>
          <p:cNvSpPr txBox="1"/>
          <p:nvPr>
            <p:ph idx="1" type="body"/>
          </p:nvPr>
        </p:nvSpPr>
        <p:spPr>
          <a:xfrm>
            <a:off x="2094600" y="152025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Rules</a:t>
            </a:r>
            <a:endParaRPr/>
          </a:p>
        </p:txBody>
      </p:sp>
      <p:sp>
        <p:nvSpPr>
          <p:cNvPr id="675" name="Google Shape;675;p6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69"/>
          <p:cNvSpPr txBox="1"/>
          <p:nvPr>
            <p:ph idx="6" type="body"/>
          </p:nvPr>
        </p:nvSpPr>
        <p:spPr>
          <a:xfrm>
            <a:off x="218850" y="2724000"/>
            <a:ext cx="3423900" cy="2108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1700"/>
              <a:t>Balancing Conditions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Analyze top 3 runs (of </a:t>
            </a:r>
            <a:r>
              <a:rPr lang="en" sz="1500"/>
              <a:t>length</a:t>
            </a:r>
            <a:r>
              <a:rPr lang="en" sz="1500"/>
              <a:t> X, Y, Z) on stack according to the balancing conditions: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5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000"/>
              <a:t>1. X + Y ≥ Z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000"/>
              <a:t>	2. X  ≥ Y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500"/>
          </a:p>
        </p:txBody>
      </p:sp>
      <p:pic>
        <p:nvPicPr>
          <p:cNvPr id="677" name="Google Shape;67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625" y="2571750"/>
            <a:ext cx="5106351" cy="241259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9"/>
          <p:cNvSpPr txBox="1"/>
          <p:nvPr/>
        </p:nvSpPr>
        <p:spPr>
          <a:xfrm>
            <a:off x="817950" y="843675"/>
            <a:ext cx="7508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Key Idea: Keep runs balanced by merging unbalanced runs as you add to stack</a:t>
            </a:r>
            <a:endParaRPr b="1"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➢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Badly sized runs lead to later inefficient merges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➢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Newer runs should be smaller than older runs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➢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Solution: merge now!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After stack is balanced, merge remaining runs.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0"/>
          <p:cNvSpPr txBox="1"/>
          <p:nvPr>
            <p:ph idx="1" type="body"/>
          </p:nvPr>
        </p:nvSpPr>
        <p:spPr>
          <a:xfrm>
            <a:off x="2094600" y="152025"/>
            <a:ext cx="49548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Galloping</a:t>
            </a:r>
            <a:endParaRPr/>
          </a:p>
        </p:txBody>
      </p:sp>
      <p:sp>
        <p:nvSpPr>
          <p:cNvPr id="684" name="Google Shape;684;p7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70"/>
          <p:cNvSpPr txBox="1"/>
          <p:nvPr>
            <p:ph idx="6" type="body"/>
          </p:nvPr>
        </p:nvSpPr>
        <p:spPr>
          <a:xfrm>
            <a:off x="253350" y="949350"/>
            <a:ext cx="40302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Consider these two lists: </a:t>
            </a:r>
            <a:endParaRPr sz="1500"/>
          </a:p>
        </p:txBody>
      </p:sp>
      <p:sp>
        <p:nvSpPr>
          <p:cNvPr id="686" name="Google Shape;686;p70"/>
          <p:cNvSpPr txBox="1"/>
          <p:nvPr/>
        </p:nvSpPr>
        <p:spPr>
          <a:xfrm>
            <a:off x="2764575" y="893100"/>
            <a:ext cx="62610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[1,2,3,4,5,6,7,8,9,11]       [10,12,13,14,15,16,17,18,19,67]</a:t>
            </a:r>
            <a:endParaRPr sz="2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descr="Horse Png PNGs for Free Download" id="687" name="Google Shape;68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250" y="190782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88" name="Google Shape;68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800" y="190782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89" name="Google Shape;6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125" y="169827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0" name="Google Shape;6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50" y="185157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1" name="Google Shape;69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700" y="185157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2" name="Google Shape;69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211737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3" name="Google Shape;69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075" y="211737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4" name="Google Shape;6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00" y="190782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5" name="Google Shape;6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425" y="206112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6" name="Google Shape;6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975" y="2061125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7" name="Google Shape;69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125" y="2222150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8" name="Google Shape;69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75" y="2222150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699" name="Google Shape;6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000" y="2012600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0" name="Google Shape;70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025" y="2165900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1" name="Google Shape;70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225" y="1976512"/>
            <a:ext cx="348900" cy="34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2" name="Google Shape;70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8349" y="3770839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3" name="Google Shape;7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91" y="3770839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4" name="Google Shape;7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069" y="3589397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5" name="Google Shape;70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489" y="3498674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6" name="Google Shape;7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1890" y="4018081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7" name="Google Shape;70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49" y="4018081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8" name="Google Shape;70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38" y="3342150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09" name="Google Shape;7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528" y="3836639"/>
            <a:ext cx="1125419" cy="1125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rse Png PNGs for Free Download" id="710" name="Google Shape;71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9767" y="3836639"/>
            <a:ext cx="1125419" cy="112541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0"/>
          <p:cNvSpPr/>
          <p:nvPr/>
        </p:nvSpPr>
        <p:spPr>
          <a:xfrm>
            <a:off x="786500" y="2777787"/>
            <a:ext cx="649500" cy="637500"/>
          </a:xfrm>
          <a:prstGeom prst="mathPlus">
            <a:avLst>
              <a:gd fmla="val 23520" name="adj1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712" name="Google Shape;712;p70" title="Screen Shot 2026-04-20 at 5.10.3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5175" y="2778476"/>
            <a:ext cx="6261000" cy="203087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3" name="Google Shape;713;p70"/>
          <p:cNvSpPr txBox="1"/>
          <p:nvPr>
            <p:ph idx="6" type="body"/>
          </p:nvPr>
        </p:nvSpPr>
        <p:spPr>
          <a:xfrm>
            <a:off x="2610850" y="1814700"/>
            <a:ext cx="63354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/>
              <a:t>Key idea: If one run ‘wins’ enough times in a row (min_gallp), it’ll probably keep winning for awhile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1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719" name="Google Shape;719;p71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